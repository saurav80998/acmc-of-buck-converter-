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71" r:id="rId15"/>
    <p:sldId id="272"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6" d="100"/>
          <a:sy n="96" d="100"/>
        </p:scale>
        <p:origin x="1066" y="58"/>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flore.unifi.it/bitstream/2158/1078229/1/Average_Buck.pdf" TargetMode="External"/><Relationship Id="rId2" Type="http://schemas.openxmlformats.org/officeDocument/2006/relationships/hyperlink" Target="https://ieeexplore.ieee.org/stamp/stamp.jsp?tp=&amp;arnumber=7793204" TargetMode="External"/><Relationship Id="rId1" Type="http://schemas.openxmlformats.org/officeDocument/2006/relationships/slideLayout" Target="../slideLayouts/slideLayout2.xml"/><Relationship Id="rId4" Type="http://schemas.openxmlformats.org/officeDocument/2006/relationships/hyperlink" Target="https://onlinelibrary.wiley.com/doi/10.1002/9781119525592.ch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82379" y="161582"/>
            <a:ext cx="8921578" cy="1470025"/>
          </a:xfrm>
        </p:spPr>
        <p:txBody>
          <a:bodyPr>
            <a:normAutofit/>
          </a:bodyPr>
          <a:lstStyle/>
          <a:p>
            <a:r>
              <a:rPr lang="en-US" sz="2400"/>
              <a:t>Power Electronics for Renewable Energy Systems </a:t>
            </a:r>
            <a:br>
              <a:rPr lang="en-US" sz="2400"/>
            </a:br>
            <a:r>
              <a:rPr lang="en-US" sz="2400"/>
              <a:t>EE661 : Course Project </a:t>
            </a:r>
            <a:endParaRPr lang="en-IN" sz="2400" b="1"/>
          </a:p>
        </p:txBody>
      </p:sp>
      <p:pic>
        <p:nvPicPr>
          <p:cNvPr id="7" name="Picture 6">
            <a:extLst>
              <a:ext uri="{FF2B5EF4-FFF2-40B4-BE49-F238E27FC236}">
                <a16:creationId xmlns:a16="http://schemas.microsoft.com/office/drawing/2014/main" id="{E4832481-D0D7-A497-931D-0E847820E18B}"/>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86936" y="239407"/>
            <a:ext cx="1096800" cy="1081265"/>
          </a:xfrm>
          <a:prstGeom prst="rect">
            <a:avLst/>
          </a:prstGeom>
          <a:ln>
            <a:solidFill>
              <a:schemeClr val="tx1"/>
            </a:solidFill>
          </a:ln>
        </p:spPr>
      </p:pic>
      <p:pic>
        <p:nvPicPr>
          <p:cNvPr id="8" name="Picture 7">
            <a:extLst>
              <a:ext uri="{FF2B5EF4-FFF2-40B4-BE49-F238E27FC236}">
                <a16:creationId xmlns:a16="http://schemas.microsoft.com/office/drawing/2014/main" id="{E4832481-D0D7-A497-931D-0E847820E18B}"/>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801232" y="272873"/>
            <a:ext cx="1096800" cy="1081265"/>
          </a:xfrm>
          <a:prstGeom prst="rect">
            <a:avLst/>
          </a:prstGeom>
          <a:ln>
            <a:solidFill>
              <a:schemeClr val="tx1"/>
            </a:solidFill>
          </a:ln>
        </p:spPr>
      </p:pic>
      <p:sp>
        <p:nvSpPr>
          <p:cNvPr id="5" name="Rectangle 4"/>
          <p:cNvSpPr/>
          <p:nvPr/>
        </p:nvSpPr>
        <p:spPr>
          <a:xfrm>
            <a:off x="401119" y="2059630"/>
            <a:ext cx="8817021" cy="584775"/>
          </a:xfrm>
          <a:prstGeom prst="rect">
            <a:avLst/>
          </a:prstGeom>
        </p:spPr>
        <p:txBody>
          <a:bodyPr wrap="square">
            <a:spAutoFit/>
          </a:bodyPr>
          <a:lstStyle/>
          <a:p>
            <a:r>
              <a:rPr lang="en-IN" sz="3200" b="1"/>
              <a:t>Average current Mode control of Buck Converter</a:t>
            </a:r>
            <a:endParaRPr lang="en-IN" sz="3200"/>
          </a:p>
        </p:txBody>
      </p:sp>
      <p:sp>
        <p:nvSpPr>
          <p:cNvPr id="9" name="Rectangle 8"/>
          <p:cNvSpPr/>
          <p:nvPr/>
        </p:nvSpPr>
        <p:spPr>
          <a:xfrm>
            <a:off x="401119" y="3659312"/>
            <a:ext cx="3050536" cy="923330"/>
          </a:xfrm>
          <a:prstGeom prst="rect">
            <a:avLst/>
          </a:prstGeom>
        </p:spPr>
        <p:txBody>
          <a:bodyPr wrap="square">
            <a:spAutoFit/>
          </a:bodyPr>
          <a:lstStyle/>
          <a:p>
            <a:r>
              <a:rPr lang="en-IN" dirty="0"/>
              <a:t>Presented by:</a:t>
            </a:r>
          </a:p>
          <a:p>
            <a:r>
              <a:rPr lang="en-IN" dirty="0" err="1"/>
              <a:t>Kashib</a:t>
            </a:r>
            <a:r>
              <a:rPr lang="en-IN" dirty="0"/>
              <a:t> khan (254102505)</a:t>
            </a:r>
          </a:p>
          <a:p>
            <a:r>
              <a:rPr lang="en-IN" dirty="0"/>
              <a:t>Saurav Kr Yadav (25410112)</a:t>
            </a:r>
          </a:p>
        </p:txBody>
      </p:sp>
      <p:sp>
        <p:nvSpPr>
          <p:cNvPr id="10" name="Rectangle 9"/>
          <p:cNvSpPr/>
          <p:nvPr/>
        </p:nvSpPr>
        <p:spPr>
          <a:xfrm>
            <a:off x="5692346" y="3659312"/>
            <a:ext cx="3352800" cy="923330"/>
          </a:xfrm>
          <a:prstGeom prst="rect">
            <a:avLst/>
          </a:prstGeom>
        </p:spPr>
        <p:txBody>
          <a:bodyPr wrap="square">
            <a:spAutoFit/>
          </a:bodyPr>
          <a:lstStyle/>
          <a:p>
            <a:pPr algn="ctr"/>
            <a:r>
              <a:rPr lang="en-US"/>
              <a:t>Under the supervision of</a:t>
            </a:r>
          </a:p>
          <a:p>
            <a:pPr algn="ctr"/>
            <a:endParaRPr lang="en-US"/>
          </a:p>
          <a:p>
            <a:pPr algn="ctr"/>
            <a:r>
              <a:rPr lang="en-US" b="1" err="1"/>
              <a:t>Dr.Shabari</a:t>
            </a:r>
            <a:r>
              <a:rPr lang="en-US" b="1"/>
              <a:t> </a:t>
            </a:r>
            <a:r>
              <a:rPr lang="en-US" b="1" err="1"/>
              <a:t>Nath</a:t>
            </a:r>
            <a:endParaRPr lang="en-US" b="1"/>
          </a:p>
        </p:txBody>
      </p:sp>
      <p:sp>
        <p:nvSpPr>
          <p:cNvPr id="11" name="Rectangle 10"/>
          <p:cNvSpPr/>
          <p:nvPr/>
        </p:nvSpPr>
        <p:spPr>
          <a:xfrm>
            <a:off x="434070" y="5789999"/>
            <a:ext cx="8026189" cy="584775"/>
          </a:xfrm>
          <a:prstGeom prst="rect">
            <a:avLst/>
          </a:prstGeom>
        </p:spPr>
        <p:txBody>
          <a:bodyPr wrap="square">
            <a:spAutoFit/>
          </a:bodyPr>
          <a:lstStyle/>
          <a:p>
            <a:pPr algn="ctr"/>
            <a:r>
              <a:rPr lang="en-US" b="1">
                <a:latin typeface="Times New Roman"/>
                <a:ea typeface="+mn-lt"/>
                <a:cs typeface="Times New Roman"/>
              </a:rPr>
              <a:t>Electronics and Electrical Engineering Department</a:t>
            </a:r>
            <a:r>
              <a:rPr lang="en-US" sz="1100">
                <a:latin typeface="Aptos"/>
                <a:ea typeface="+mn-lt"/>
                <a:cs typeface="Times New Roman"/>
              </a:rPr>
              <a:t>    </a:t>
            </a:r>
          </a:p>
          <a:p>
            <a:pPr algn="ctr"/>
            <a:r>
              <a:rPr lang="en-US" sz="1100">
                <a:latin typeface="Aptos"/>
                <a:ea typeface="+mn-lt"/>
                <a:cs typeface="Times New Roman"/>
              </a:rPr>
              <a:t>     </a:t>
            </a:r>
            <a:r>
              <a:rPr lang="en-US" sz="1400">
                <a:latin typeface="Aptos"/>
                <a:ea typeface="+mn-lt"/>
                <a:cs typeface="Times New Roman"/>
              </a:rPr>
              <a:t>Indian</a:t>
            </a:r>
            <a:r>
              <a:rPr lang="en-US" sz="1400">
                <a:latin typeface="Aptos"/>
                <a:cs typeface="Times New Roman"/>
              </a:rPr>
              <a:t> Institute Of Technology, Guwahati- 781039</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38" y="0"/>
            <a:ext cx="8229600" cy="634313"/>
          </a:xfrm>
        </p:spPr>
        <p:txBody>
          <a:bodyPr>
            <a:normAutofit fontScale="90000"/>
          </a:bodyPr>
          <a:lstStyle/>
          <a:p>
            <a:r>
              <a:rPr lang="en-IN"/>
              <a:t>OVERVIEW</a:t>
            </a:r>
            <a:endParaRPr/>
          </a:p>
        </p:txBody>
      </p:sp>
      <p:sp>
        <p:nvSpPr>
          <p:cNvPr id="3" name="Content Placeholder 2"/>
          <p:cNvSpPr>
            <a:spLocks noGrp="1"/>
          </p:cNvSpPr>
          <p:nvPr>
            <p:ph idx="1"/>
          </p:nvPr>
        </p:nvSpPr>
        <p:spPr>
          <a:xfrm>
            <a:off x="457200" y="560173"/>
            <a:ext cx="8229600" cy="6194854"/>
          </a:xfrm>
        </p:spPr>
        <p:txBody>
          <a:bodyPr>
            <a:normAutofit/>
          </a:bodyPr>
          <a:lstStyle/>
          <a:p>
            <a:pPr marL="0" indent="0">
              <a:buNone/>
            </a:pPr>
            <a:r>
              <a:rPr lang="en-IN" sz="2600" dirty="0"/>
              <a:t>• Buck Converter</a:t>
            </a:r>
            <a:endParaRPr sz="2600" dirty="0"/>
          </a:p>
          <a:p>
            <a:pPr marL="0" indent="0">
              <a:buNone/>
            </a:pPr>
            <a:r>
              <a:rPr sz="2600" dirty="0"/>
              <a:t>•</a:t>
            </a:r>
            <a:r>
              <a:rPr lang="en-IN" sz="2600" dirty="0"/>
              <a:t> Modelling Approach</a:t>
            </a:r>
            <a:endParaRPr sz="2600" dirty="0"/>
          </a:p>
          <a:p>
            <a:pPr marL="0" indent="0">
              <a:buNone/>
            </a:pPr>
            <a:r>
              <a:rPr lang="en-IN" sz="2600" dirty="0"/>
              <a:t>• Need for control</a:t>
            </a:r>
          </a:p>
          <a:p>
            <a:pPr marL="0" indent="0">
              <a:buNone/>
            </a:pPr>
            <a:r>
              <a:rPr lang="en-IN" sz="2600" dirty="0"/>
              <a:t>• ACMC of Buck converter</a:t>
            </a:r>
          </a:p>
          <a:p>
            <a:pPr marL="0" indent="0">
              <a:buNone/>
            </a:pPr>
            <a:r>
              <a:rPr lang="en-IN" sz="2600" dirty="0"/>
              <a:t>• Block Diagram of ACMC</a:t>
            </a:r>
          </a:p>
          <a:p>
            <a:pPr marL="0" indent="0">
              <a:buNone/>
            </a:pPr>
            <a:r>
              <a:rPr lang="en-IN" sz="2600" dirty="0"/>
              <a:t>• Circuit Diagram of ACMC</a:t>
            </a:r>
          </a:p>
          <a:p>
            <a:pPr marL="0" indent="0">
              <a:buNone/>
            </a:pPr>
            <a:r>
              <a:rPr lang="en-IN" sz="2600" dirty="0"/>
              <a:t>• MATLAB Circuit Simulation</a:t>
            </a:r>
          </a:p>
          <a:p>
            <a:pPr marL="0" indent="0">
              <a:buNone/>
            </a:pPr>
            <a:r>
              <a:rPr lang="en-IN" sz="2600" dirty="0"/>
              <a:t>• Results</a:t>
            </a:r>
          </a:p>
          <a:p>
            <a:pPr marL="0" indent="0">
              <a:buNone/>
            </a:pPr>
            <a:r>
              <a:rPr lang="en-IN" sz="2600" dirty="0"/>
              <a:t>• Applications</a:t>
            </a:r>
          </a:p>
          <a:p>
            <a:pPr marL="0" indent="0">
              <a:buNone/>
            </a:pPr>
            <a:r>
              <a:rPr lang="en-IN" sz="2600" dirty="0"/>
              <a:t>• Advantages </a:t>
            </a:r>
          </a:p>
          <a:p>
            <a:pPr marL="0" indent="0">
              <a:buNone/>
            </a:pPr>
            <a:r>
              <a:rPr lang="en-IN" sz="2600" dirty="0"/>
              <a:t>•  Limitations</a:t>
            </a:r>
          </a:p>
          <a:p>
            <a:pPr marL="0" indent="0">
              <a:buNone/>
            </a:pPr>
            <a:r>
              <a:rPr lang="en-IN" sz="2600" dirty="0"/>
              <a:t>•   Reference</a:t>
            </a:r>
          </a:p>
          <a:p>
            <a:pPr marL="0" indent="0">
              <a:buNone/>
            </a:pPr>
            <a:endParaRPr lang="en-IN" sz="2600" dirty="0"/>
          </a:p>
          <a:p>
            <a:pPr marL="0" indent="0">
              <a:buNone/>
            </a:pPr>
            <a:endParaRPr lang="en-IN" sz="2600" dirty="0"/>
          </a:p>
          <a:p>
            <a:pPr marL="0" indent="0">
              <a:buNone/>
            </a:pPr>
            <a:endParaRPr lang="en-IN" sz="2600" dirty="0"/>
          </a:p>
          <a:p>
            <a:pPr marL="0" indent="0">
              <a:buNone/>
            </a:pPr>
            <a:endParaRPr lang="en-IN" dirty="0"/>
          </a:p>
          <a:p>
            <a:pPr marL="0" indent="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Buck Converter</a:t>
            </a:r>
          </a:p>
        </p:txBody>
      </p:sp>
      <p:sp>
        <p:nvSpPr>
          <p:cNvPr id="3" name="Content Placeholder 2"/>
          <p:cNvSpPr>
            <a:spLocks noGrp="1"/>
          </p:cNvSpPr>
          <p:nvPr>
            <p:ph idx="1"/>
          </p:nvPr>
        </p:nvSpPr>
        <p:spPr/>
        <p:txBody>
          <a:bodyPr/>
          <a:lstStyle/>
          <a:p>
            <a:pPr marL="0" indent="0">
              <a:buNone/>
            </a:pPr>
            <a:r>
              <a:rPr dirty="0"/>
              <a:t> </a:t>
            </a:r>
            <a:r>
              <a:rPr lang="en-US" dirty="0"/>
              <a:t>A buck converter is a type of DC–DC power converter that steps down (reduces) a higher</a:t>
            </a:r>
            <a:r>
              <a:rPr lang="en-US" b="1" dirty="0"/>
              <a:t> </a:t>
            </a:r>
            <a:r>
              <a:rPr lang="en-US" dirty="0"/>
              <a:t>DC</a:t>
            </a:r>
            <a:r>
              <a:rPr lang="en-US" b="1" dirty="0"/>
              <a:t> </a:t>
            </a:r>
            <a:r>
              <a:rPr lang="en-US" dirty="0"/>
              <a:t>voltage to a lower DC voltage efficiently.</a:t>
            </a:r>
          </a:p>
          <a:p>
            <a:pPr marL="0" indent="0">
              <a:buNone/>
            </a:pPr>
            <a:endParaRPr dirty="0"/>
          </a:p>
          <a:p>
            <a:pPr marL="0" indent="0" algn="r">
              <a:buNone/>
            </a:pPr>
            <a:endParaRPr dirty="0"/>
          </a:p>
        </p:txBody>
      </p:sp>
      <p:pic>
        <p:nvPicPr>
          <p:cNvPr id="5" name="Picture 4">
            <a:extLst>
              <a:ext uri="{FF2B5EF4-FFF2-40B4-BE49-F238E27FC236}">
                <a16:creationId xmlns:a16="http://schemas.microsoft.com/office/drawing/2014/main" id="{2345E902-4DE5-4AC7-9DB2-3ECB22E3EF76}"/>
              </a:ext>
            </a:extLst>
          </p:cNvPr>
          <p:cNvPicPr/>
          <p:nvPr/>
        </p:nvPicPr>
        <p:blipFill>
          <a:blip r:embed="rId2"/>
          <a:stretch>
            <a:fillRect/>
          </a:stretch>
        </p:blipFill>
        <p:spPr>
          <a:xfrm>
            <a:off x="1386011" y="3429000"/>
            <a:ext cx="6072311" cy="26971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Modelling Approach</a:t>
            </a:r>
            <a:endParaRPr/>
          </a:p>
        </p:txBody>
      </p:sp>
      <p:sp>
        <p:nvSpPr>
          <p:cNvPr id="3" name="Content Placeholder 2"/>
          <p:cNvSpPr>
            <a:spLocks noGrp="1"/>
          </p:cNvSpPr>
          <p:nvPr>
            <p:ph idx="1"/>
          </p:nvPr>
        </p:nvSpPr>
        <p:spPr/>
        <p:txBody>
          <a:bodyPr/>
          <a:lstStyle/>
          <a:p>
            <a:pPr marL="0" indent="0">
              <a:buNone/>
            </a:pPr>
            <a:r>
              <a:rPr sz="2800"/>
              <a:t>•</a:t>
            </a:r>
            <a:r>
              <a:rPr lang="en-US" sz="2800"/>
              <a:t> A buck converter switching system (nonlinear) To design controllers, we convert it into a </a:t>
            </a:r>
            <a:r>
              <a:rPr lang="en-US" sz="2800" b="1"/>
              <a:t>Linear small-signal model </a:t>
            </a:r>
            <a:r>
              <a:rPr lang="en-US" sz="2800"/>
              <a:t>using a small-signal </a:t>
            </a:r>
            <a:r>
              <a:rPr lang="en-IN" sz="2800"/>
              <a:t>averaging</a:t>
            </a:r>
            <a:r>
              <a:rPr lang="en-US" sz="2800"/>
              <a:t> technique to simplify switching behavior for control design.</a:t>
            </a:r>
          </a:p>
          <a:p>
            <a:pPr marL="0" indent="0">
              <a:buNone/>
            </a:pPr>
            <a:r>
              <a:rPr lang="en-IN" sz="2800"/>
              <a:t>• </a:t>
            </a:r>
            <a:r>
              <a:rPr lang="en-US" sz="2800"/>
              <a:t>Transfer functions from Buck converter such as </a:t>
            </a:r>
            <a:r>
              <a:rPr lang="en-US" sz="2800" err="1"/>
              <a:t>vo</a:t>
            </a:r>
            <a:r>
              <a:rPr lang="en-US" sz="2800"/>
              <a:t>/d and </a:t>
            </a:r>
            <a:r>
              <a:rPr lang="en-US" sz="2800" err="1"/>
              <a:t>iL</a:t>
            </a:r>
            <a:r>
              <a:rPr lang="en-US" sz="2800"/>
              <a:t>/d are derived to analyze system dynamics.</a:t>
            </a:r>
          </a:p>
          <a:p>
            <a:pPr marL="0" indent="0">
              <a:buNone/>
            </a:pPr>
            <a:r>
              <a:rPr sz="2800"/>
              <a:t>• </a:t>
            </a:r>
            <a:r>
              <a:rPr lang="en-US" sz="2800"/>
              <a:t>Non-idealities  are included to ensure the realistic and accurate modeling of Buck converter</a:t>
            </a:r>
            <a:endParaRPr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IN"/>
              <a:t> </a:t>
            </a:r>
            <a:r>
              <a:t>Need for Control</a:t>
            </a:r>
          </a:p>
        </p:txBody>
      </p:sp>
      <p:sp>
        <p:nvSpPr>
          <p:cNvPr id="3" name="Content Placeholder 2"/>
          <p:cNvSpPr>
            <a:spLocks noGrp="1"/>
          </p:cNvSpPr>
          <p:nvPr>
            <p:ph idx="1"/>
          </p:nvPr>
        </p:nvSpPr>
        <p:spPr>
          <a:xfrm>
            <a:off x="413543" y="1040026"/>
            <a:ext cx="8229600" cy="5817973"/>
          </a:xfrm>
        </p:spPr>
        <p:txBody>
          <a:bodyPr/>
          <a:lstStyle/>
          <a:p>
            <a:pPr marL="0" indent="0">
              <a:buNone/>
            </a:pPr>
            <a:r>
              <a:rPr lang="en-IN" dirty="0"/>
              <a:t> </a:t>
            </a:r>
            <a:r>
              <a:rPr lang="en-IN" b="1" dirty="0"/>
              <a:t>Before compensation : </a:t>
            </a:r>
            <a:r>
              <a:rPr lang="en-IN" sz="2800" dirty="0"/>
              <a:t> Causes low phase margin,</a:t>
            </a:r>
            <a:r>
              <a:rPr lang="en-US" sz="2800" dirty="0"/>
              <a:t> Leads to oscillations or ringing, System may even become unstable, Output voltage does not settle quickly, Resonant peak occur, also due to non-idealities output doesn’t follow reference voltage.</a:t>
            </a:r>
          </a:p>
          <a:p>
            <a:pPr marL="0" indent="0">
              <a:buNone/>
            </a:pPr>
            <a:r>
              <a:rPr lang="en-US" sz="2800" dirty="0"/>
              <a:t>: </a:t>
            </a:r>
            <a:r>
              <a:rPr lang="en-US" sz="2400" b="1" dirty="0"/>
              <a:t>Bode-plot of duty cycle to output voltage transfer function</a:t>
            </a:r>
          </a:p>
          <a:p>
            <a:endParaRPr lang="en-US" sz="2800" dirty="0"/>
          </a:p>
          <a:p>
            <a:endParaRPr lang="en-US" sz="2800" dirty="0"/>
          </a:p>
          <a:p>
            <a:pPr marL="0" indent="0">
              <a:buNone/>
            </a:pPr>
            <a:endParaRPr dirty="0"/>
          </a:p>
          <a:p>
            <a:pPr marL="0" indent="0">
              <a:buNone/>
            </a:pPr>
            <a:endParaRPr dirty="0"/>
          </a:p>
        </p:txBody>
      </p:sp>
      <p:sp>
        <p:nvSpPr>
          <p:cNvPr id="4" name="Rectangle 1"/>
          <p:cNvSpPr>
            <a:spLocks noChangeArrowheads="1"/>
          </p:cNvSpPr>
          <p:nvPr/>
        </p:nvSpPr>
        <p:spPr bwMode="auto">
          <a:xfrm>
            <a:off x="0" y="-323166"/>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a:t>
            </a:r>
          </a:p>
        </p:txBody>
      </p:sp>
      <p:sp>
        <p:nvSpPr>
          <p:cNvPr id="5" name="Rectangle 2"/>
          <p:cNvSpPr>
            <a:spLocks noChangeArrowheads="1"/>
          </p:cNvSpPr>
          <p:nvPr/>
        </p:nvSpPr>
        <p:spPr bwMode="auto">
          <a:xfrm>
            <a:off x="152400" y="-32267"/>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 </a:t>
            </a:r>
          </a:p>
        </p:txBody>
      </p:sp>
      <p:sp>
        <p:nvSpPr>
          <p:cNvPr id="6" name="Rectangle 3"/>
          <p:cNvSpPr>
            <a:spLocks noChangeArrowheads="1"/>
          </p:cNvSpPr>
          <p:nvPr/>
        </p:nvSpPr>
        <p:spPr bwMode="auto">
          <a:xfrm>
            <a:off x="0" y="-18466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919C1CFF-5C84-4D47-A0E0-834AFB7F3BDA}"/>
              </a:ext>
            </a:extLst>
          </p:cNvPr>
          <p:cNvPicPr/>
          <p:nvPr/>
        </p:nvPicPr>
        <p:blipFill rotWithShape="1">
          <a:blip r:embed="rId2"/>
          <a:srcRect l="4015" t="19582" r="-991"/>
          <a:stretch/>
        </p:blipFill>
        <p:spPr>
          <a:xfrm>
            <a:off x="1013459" y="4031310"/>
            <a:ext cx="7359264" cy="26615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113" y="0"/>
            <a:ext cx="8229600" cy="1143000"/>
          </a:xfrm>
        </p:spPr>
        <p:txBody>
          <a:bodyPr/>
          <a:lstStyle/>
          <a:p>
            <a:r>
              <a:rPr lang="en-IN"/>
              <a:t>ACMC of Buck Converter </a:t>
            </a:r>
            <a:endParaRPr/>
          </a:p>
        </p:txBody>
      </p:sp>
      <p:sp>
        <p:nvSpPr>
          <p:cNvPr id="3" name="Content Placeholder 2"/>
          <p:cNvSpPr>
            <a:spLocks noGrp="1"/>
          </p:cNvSpPr>
          <p:nvPr>
            <p:ph idx="1"/>
          </p:nvPr>
        </p:nvSpPr>
        <p:spPr>
          <a:xfrm>
            <a:off x="453081" y="1278924"/>
            <a:ext cx="8229600" cy="4525963"/>
          </a:xfrm>
        </p:spPr>
        <p:txBody>
          <a:bodyPr/>
          <a:lstStyle/>
          <a:p>
            <a:pPr marL="0" indent="0">
              <a:buNone/>
            </a:pPr>
            <a:r>
              <a:rPr lang="en-US" sz="2800" dirty="0"/>
              <a:t>Average Current Mode Control (ACMC) is a control technique in which the average value of the inductor current is regulated using an inner current loop, while the output voltage is regulated using an outer voltage loop. Because of the  buck converter is a second-order system, direct voltage control is difficult, so ACMC is used to improve stability which </a:t>
            </a:r>
            <a:r>
              <a:rPr lang="en-IN" sz="2800" dirty="0"/>
              <a:t>enhance dynamic response.</a:t>
            </a:r>
            <a:endParaRPr sz="2800" dirty="0"/>
          </a:p>
          <a:p>
            <a:pPr marL="0" indent="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Block Diagram of ACMC </a:t>
            </a:r>
            <a:endParaRPr/>
          </a:p>
        </p:txBody>
      </p:sp>
      <p:pic>
        <p:nvPicPr>
          <p:cNvPr id="4" name="Content Placeholder 3"/>
          <p:cNvPicPr>
            <a:picLocks noGrp="1" noChangeAspect="1"/>
          </p:cNvPicPr>
          <p:nvPr>
            <p:ph idx="1"/>
          </p:nvPr>
        </p:nvPicPr>
        <p:blipFill rotWithShape="1">
          <a:blip r:embed="rId2"/>
          <a:srcRect l="2517" r="581" b="2850"/>
          <a:stretch/>
        </p:blipFill>
        <p:spPr>
          <a:xfrm>
            <a:off x="461320" y="1608152"/>
            <a:ext cx="8246076" cy="43969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930"/>
            <a:ext cx="8229600" cy="1143000"/>
          </a:xfrm>
        </p:spPr>
        <p:txBody>
          <a:bodyPr/>
          <a:lstStyle/>
          <a:p>
            <a:r>
              <a:rPr lang="en-IN"/>
              <a:t>Circuit Diagram of ACMC </a:t>
            </a:r>
            <a:endParaRP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501346"/>
            <a:ext cx="8332573" cy="4525963"/>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MATLAB Circuit Simulation</a:t>
            </a:r>
            <a:endParaRPr/>
          </a:p>
        </p:txBody>
      </p:sp>
      <p:pic>
        <p:nvPicPr>
          <p:cNvPr id="4" name="Content Placeholder 3"/>
          <p:cNvPicPr>
            <a:picLocks noGrp="1" noChangeAspect="1"/>
          </p:cNvPicPr>
          <p:nvPr>
            <p:ph idx="1"/>
          </p:nvPr>
        </p:nvPicPr>
        <p:blipFill>
          <a:blip r:embed="rId2"/>
          <a:stretch>
            <a:fillRect/>
          </a:stretch>
        </p:blipFill>
        <p:spPr>
          <a:xfrm>
            <a:off x="457200" y="2087599"/>
            <a:ext cx="8229600" cy="35511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208" y="61278"/>
            <a:ext cx="8229600" cy="1143000"/>
          </a:xfrm>
        </p:spPr>
        <p:txBody>
          <a:bodyPr/>
          <a:lstStyle/>
          <a:p>
            <a:r>
              <a:rPr lang="en-IN"/>
              <a:t>Results</a:t>
            </a:r>
            <a:endParaRPr/>
          </a:p>
        </p:txBody>
      </p:sp>
      <p:sp>
        <p:nvSpPr>
          <p:cNvPr id="3" name="Content Placeholder 2"/>
          <p:cNvSpPr>
            <a:spLocks noGrp="1"/>
          </p:cNvSpPr>
          <p:nvPr>
            <p:ph idx="1"/>
          </p:nvPr>
        </p:nvSpPr>
        <p:spPr>
          <a:xfrm>
            <a:off x="457200" y="1056503"/>
            <a:ext cx="8229600" cy="5410200"/>
          </a:xfrm>
        </p:spPr>
        <p:txBody>
          <a:bodyPr>
            <a:normAutofit/>
          </a:bodyPr>
          <a:lstStyle/>
          <a:p>
            <a:pPr marL="0" indent="0">
              <a:buNone/>
            </a:pPr>
            <a:r>
              <a:rPr lang="en-IN" sz="2800" b="1"/>
              <a:t>We change the reference voltage at 0.1 sec.</a:t>
            </a:r>
          </a:p>
          <a:p>
            <a:pPr marL="0" indent="0">
              <a:buNone/>
            </a:pPr>
            <a:endParaRPr sz="2800" b="1"/>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22145"/>
            <a:ext cx="9144000" cy="43033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48281" y="535460"/>
            <a:ext cx="8538519" cy="5590704"/>
          </a:xfrm>
        </p:spPr>
        <p:txBody>
          <a:bodyPr/>
          <a:lstStyle/>
          <a:p>
            <a:pPr marL="0" indent="0">
              <a:buNone/>
            </a:pPr>
            <a:r>
              <a:rPr lang="en-IN" sz="2800" b="1"/>
              <a:t>We change both reference and input voltage at 0.1 sec.</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40913"/>
            <a:ext cx="9144000" cy="4585250"/>
          </a:xfrm>
          <a:prstGeom prst="rect">
            <a:avLst/>
          </a:prstGeom>
        </p:spPr>
      </p:pic>
    </p:spTree>
    <p:extLst>
      <p:ext uri="{BB962C8B-B14F-4D97-AF65-F5344CB8AC3E}">
        <p14:creationId xmlns:p14="http://schemas.microsoft.com/office/powerpoint/2010/main" val="707967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81233"/>
            <a:ext cx="9144000" cy="5988908"/>
          </a:xfrm>
        </p:spPr>
        <p:txBody>
          <a:bodyPr>
            <a:normAutofit/>
          </a:bodyPr>
          <a:lstStyle/>
          <a:p>
            <a:pPr marL="0" indent="0">
              <a:buNone/>
            </a:pPr>
            <a:r>
              <a:rPr lang="en-IN" sz="2800" b="1"/>
              <a:t>At large value of load resistance keeping input voltage same  ripple will increase but this can be mitigate by increasing the filter capacitance.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08376"/>
            <a:ext cx="9144000" cy="3985982"/>
          </a:xfrm>
          <a:prstGeom prst="rect">
            <a:avLst/>
          </a:prstGeom>
        </p:spPr>
      </p:pic>
    </p:spTree>
    <p:extLst>
      <p:ext uri="{BB962C8B-B14F-4D97-AF65-F5344CB8AC3E}">
        <p14:creationId xmlns:p14="http://schemas.microsoft.com/office/powerpoint/2010/main" val="852929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Applications</a:t>
            </a:r>
          </a:p>
        </p:txBody>
      </p:sp>
      <p:sp>
        <p:nvSpPr>
          <p:cNvPr id="3" name="Content Placeholder 2"/>
          <p:cNvSpPr>
            <a:spLocks noGrp="1"/>
          </p:cNvSpPr>
          <p:nvPr>
            <p:ph idx="1"/>
          </p:nvPr>
        </p:nvSpPr>
        <p:spPr/>
        <p:txBody>
          <a:bodyPr/>
          <a:lstStyle/>
          <a:p>
            <a:r>
              <a:rPr lang="en-IN"/>
              <a:t>Renewable Energy Systems.</a:t>
            </a:r>
          </a:p>
          <a:p>
            <a:r>
              <a:rPr lang="en-IN"/>
              <a:t>Automotive Electronics.</a:t>
            </a:r>
          </a:p>
          <a:p>
            <a:r>
              <a:rPr lang="en-US"/>
              <a:t>DC–DC Converters in Embedded Systems.</a:t>
            </a:r>
          </a:p>
          <a:p>
            <a:r>
              <a:rPr lang="en-IN"/>
              <a:t>High-Performance Power Supplies.</a:t>
            </a:r>
          </a:p>
        </p:txBody>
      </p:sp>
    </p:spTree>
    <p:extLst>
      <p:ext uri="{BB962C8B-B14F-4D97-AF65-F5344CB8AC3E}">
        <p14:creationId xmlns:p14="http://schemas.microsoft.com/office/powerpoint/2010/main" val="544981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Advantage</a:t>
            </a:r>
          </a:p>
        </p:txBody>
      </p:sp>
      <p:sp>
        <p:nvSpPr>
          <p:cNvPr id="3" name="Content Placeholder 2"/>
          <p:cNvSpPr>
            <a:spLocks noGrp="1"/>
          </p:cNvSpPr>
          <p:nvPr>
            <p:ph idx="1"/>
          </p:nvPr>
        </p:nvSpPr>
        <p:spPr/>
        <p:txBody>
          <a:bodyPr/>
          <a:lstStyle/>
          <a:p>
            <a:r>
              <a:rPr lang="en-IN"/>
              <a:t>Fast Dynamic Response.</a:t>
            </a:r>
          </a:p>
          <a:p>
            <a:r>
              <a:rPr lang="en-IN"/>
              <a:t>Better Current Control.</a:t>
            </a:r>
          </a:p>
          <a:p>
            <a:r>
              <a:rPr lang="en-IN"/>
              <a:t>Improved Stability.</a:t>
            </a:r>
          </a:p>
          <a:p>
            <a:r>
              <a:rPr lang="en-IN"/>
              <a:t>Line Feedforward Effect.</a:t>
            </a:r>
          </a:p>
          <a:p>
            <a:r>
              <a:rPr lang="en-IN"/>
              <a:t>Better Load Regulation.</a:t>
            </a:r>
          </a:p>
          <a:p>
            <a:pPr marL="0" indent="0">
              <a:buNone/>
            </a:pPr>
            <a:endParaRPr lang="en-IN"/>
          </a:p>
        </p:txBody>
      </p:sp>
    </p:spTree>
    <p:extLst>
      <p:ext uri="{BB962C8B-B14F-4D97-AF65-F5344CB8AC3E}">
        <p14:creationId xmlns:p14="http://schemas.microsoft.com/office/powerpoint/2010/main" val="994691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Limitations</a:t>
            </a:r>
          </a:p>
        </p:txBody>
      </p:sp>
      <p:sp>
        <p:nvSpPr>
          <p:cNvPr id="3" name="Content Placeholder 2"/>
          <p:cNvSpPr>
            <a:spLocks noGrp="1"/>
          </p:cNvSpPr>
          <p:nvPr>
            <p:ph idx="1"/>
          </p:nvPr>
        </p:nvSpPr>
        <p:spPr/>
        <p:txBody>
          <a:bodyPr/>
          <a:lstStyle/>
          <a:p>
            <a:r>
              <a:rPr lang="en-IN" sz="2400" b="1"/>
              <a:t>Noise Sensitivity</a:t>
            </a:r>
            <a:r>
              <a:rPr lang="en-IN"/>
              <a:t> : </a:t>
            </a:r>
            <a:r>
              <a:rPr lang="en-IN" sz="2400"/>
              <a:t>Inductor current contain switching noise, ripple components due to this current loop may get disturb.</a:t>
            </a:r>
          </a:p>
          <a:p>
            <a:r>
              <a:rPr lang="en-US" sz="2400" b="1"/>
              <a:t>Power Loss in Current Sensing.</a:t>
            </a:r>
          </a:p>
          <a:p>
            <a:r>
              <a:rPr lang="en-US" sz="2400" b="1"/>
              <a:t>Bandwidth Limitation Due to Averaging : </a:t>
            </a:r>
            <a:r>
              <a:rPr lang="en-IN" sz="2400"/>
              <a:t>ACMC uses average</a:t>
            </a:r>
            <a:r>
              <a:rPr lang="en-IN" sz="2400" b="1"/>
              <a:t> </a:t>
            </a:r>
            <a:r>
              <a:rPr lang="en-IN" sz="2400"/>
              <a:t>current, not instantaneous current so we require the low pass filter this introduce the delay.</a:t>
            </a:r>
          </a:p>
          <a:p>
            <a:r>
              <a:rPr lang="en-IN" sz="2400" b="1"/>
              <a:t>Complex Compensation Design.</a:t>
            </a:r>
          </a:p>
          <a:p>
            <a:endParaRPr lang="en-IN"/>
          </a:p>
        </p:txBody>
      </p:sp>
    </p:spTree>
    <p:extLst>
      <p:ext uri="{BB962C8B-B14F-4D97-AF65-F5344CB8AC3E}">
        <p14:creationId xmlns:p14="http://schemas.microsoft.com/office/powerpoint/2010/main" val="2400357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Efficient control method</a:t>
            </a:r>
          </a:p>
          <a:p>
            <a:r>
              <a:t>• Widely used in power electronics</a:t>
            </a:r>
          </a:p>
          <a:p>
            <a:r>
              <a:t>• Scope for future improvements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r>
              <a:t> Power Electronics textbooks</a:t>
            </a:r>
            <a:endParaRPr lang="en-IN"/>
          </a:p>
          <a:p>
            <a:r>
              <a:rPr lang="en-IN">
                <a:hlinkClick r:id="rId2"/>
              </a:rPr>
              <a:t>https://ieeexplore.ieee.org/stamp/stamp.jsp?tp=&amp;arnumber=7793204</a:t>
            </a:r>
            <a:endParaRPr lang="en-IN"/>
          </a:p>
          <a:p>
            <a:r>
              <a:rPr lang="en-IN">
                <a:hlinkClick r:id="rId3"/>
              </a:rPr>
              <a:t>https://flore.unifi.it/bitstream/2158/1078229/1/Average_Buck.pdf</a:t>
            </a:r>
            <a:endParaRPr lang="en-IN"/>
          </a:p>
          <a:p>
            <a:r>
              <a:rPr lang="en-IN">
                <a:hlinkClick r:id="rId4"/>
              </a:rPr>
              <a:t>https://onlinelibrary.wiley.com/doi/10.1002/9781119525592.ch2</a:t>
            </a:r>
            <a:endParaRPr lang="en-IN"/>
          </a:p>
          <a:p>
            <a:endParaRPr lang="en-IN"/>
          </a:p>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2489</TotalTime>
  <Words>558</Words>
  <Application>Microsoft Office PowerPoint</Application>
  <PresentationFormat>On-screen Show (4:3)</PresentationFormat>
  <Paragraphs>74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vt:lpstr>
      <vt:lpstr>Times New Roman</vt:lpstr>
      <vt:lpstr>Office Theme</vt:lpstr>
      <vt:lpstr>Power Electronics for Renewable Energy Systems  EE661 : Course Project </vt:lpstr>
      <vt:lpstr>OVERVIEW</vt:lpstr>
      <vt:lpstr>Buck Converter</vt:lpstr>
      <vt:lpstr>Modelling Approach</vt:lpstr>
      <vt:lpstr> Need for Control</vt:lpstr>
      <vt:lpstr>ACMC of Buck Converter </vt:lpstr>
      <vt:lpstr>Block Diagram of ACMC </vt:lpstr>
      <vt:lpstr>Circuit Diagram of ACMC </vt:lpstr>
      <vt:lpstr>MATLAB Circuit Simulation</vt:lpstr>
      <vt:lpstr>Results</vt:lpstr>
      <vt:lpstr>PowerPoint Presentation</vt:lpstr>
      <vt:lpstr>PowerPoint Presentation</vt:lpstr>
      <vt:lpstr>Applications</vt:lpstr>
      <vt:lpstr>Advantage</vt:lpstr>
      <vt:lpstr>Limitations</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Average Current Mode Control of Buck Converter</dc:title>
  <dc:subject/>
  <dc:creator>Kashib Khan</dc:creator>
  <cp:keywords/>
  <dc:description>generated using python-pptx</dc:description>
  <cp:lastModifiedBy>SAURAV KUMAR YADAV</cp:lastModifiedBy>
  <cp:revision>36</cp:revision>
  <dcterms:created xsi:type="dcterms:W3CDTF">2013-01-27T09:14:16Z</dcterms:created>
  <dcterms:modified xsi:type="dcterms:W3CDTF">2026-04-28T06:58:14Z</dcterms:modified>
  <cp:category/>
</cp:coreProperties>
</file>